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5029200" cy="6720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KENYA SUGAR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D0D0"/>
                </a:solidFill>
                <a:latin typeface="Calibri"/>
              </a:defRPr>
            </a:pPr>
            <a:r>
              <a:t>&amp; ECOSPACE SERVICES LTD.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Drone-Assisted Sugarcane</a:t>
            </a:r>
            <a:br/>
            <a:r>
              <a:t>Mapping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D0D0"/>
                </a:solidFill>
                <a:latin typeface="Calibri"/>
              </a:defRPr>
            </a:pPr>
            <a:r>
              <a:t>Western Catchment Region</a:t>
            </a:r>
            <a:br/>
            <a:r>
              <a:t>Technical Report - January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B0B0"/>
                </a:solidFill>
                <a:latin typeface="Calibri"/>
              </a:defRPr>
            </a:pPr>
            <a:r>
              <a:t>Ecospace Services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B0B0"/>
                </a:solidFill>
                <a:latin typeface="Calibri"/>
              </a:defRPr>
            </a:pPr>
            <a:r>
              <a:t>Providing Geospatial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0972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66"/>
                </a:solidFill>
                <a:latin typeface="Calibri"/>
              </a:defRPr>
            </a:pPr>
            <a:r>
              <a:t>VARIANCE ANALYSIS</a:t>
            </a:r>
            <a:br/>
            <a:r>
              <a:t>PRESENTATION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743200"/>
            <a:ext cx="2743200" cy="36576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Understanding the 16.99% Census Overestimation:</a:t>
            </a:r>
            <a:br/>
            <a:r>
              <a:t>Sources, Reasons &amp; Yield Comparison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389120"/>
            <a:ext cx="182880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00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666"/>
                </a:solidFill>
                <a:latin typeface="Calibri"/>
              </a:defRPr>
            </a:pPr>
            <a:r>
              <a:t>16.99%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Census</a:t>
            </a:r>
            <a:br/>
            <a:r>
              <a:t>Overestimation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4389120"/>
            <a:ext cx="182880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00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666"/>
                </a:solidFill>
                <a:latin typeface="Calibri"/>
              </a:defRPr>
            </a:pPr>
            <a:r>
              <a:t>92.3%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Prediction</a:t>
            </a:r>
            <a:br/>
            <a:r>
              <a:t>Accuracy (R²)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4389120"/>
            <a:ext cx="182880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00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666"/>
                </a:solidFill>
                <a:latin typeface="Calibri"/>
              </a:defRPr>
            </a:pPr>
            <a:r>
              <a:t>25,011 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Mature Cane</a:t>
            </a:r>
            <a:br/>
            <a:r>
              <a:t>Identified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SLIDE 1: SOURCES OF THE 16.99% 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D0D0"/>
                </a:solidFill>
                <a:latin typeface="Calibri"/>
              </a:defRPr>
            </a:pPr>
            <a:r>
              <a:t>Drone-measured vs. Census-reported field areas across multiple sugar companies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Systematic comparison between drone-measured field areas and areas reported through conventional census enumeration revealed that traditional census methods overestimate mature cane area by an average of 16.99% across the surveyed regions. The evidence was substantiated through field-by-field validation across multiple sugar companies and cooperatives: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116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Sugar Company / Zone</a:t>
                      </a:r>
                    </a:p>
                  </a:txBody>
                  <a:tcPr anchor="ctr"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Reported Area (Ha)</a:t>
                      </a:r>
                    </a:p>
                  </a:txBody>
                  <a:tcPr anchor="ctr"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Measured Area (Ha)</a:t>
                      </a:r>
                    </a:p>
                  </a:txBody>
                  <a:tcPr anchor="ctr"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Overestimation (%)</a:t>
                      </a:r>
                    </a:p>
                  </a:txBody>
                  <a:tcPr anchor="ctr"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Variance Category</a:t>
                      </a:r>
                    </a:p>
                  </a:txBody>
                  <a:tcPr anchor="ctr">
                    <a:solidFill>
                      <a:srgbClr val="0066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Transmara - Keiyan Coop (Field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Extreme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Transmara - Keiyan Coop (Field 2)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6.16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Extreme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Sukari Industries (Nyanza)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West Kenya (Kabras Zone)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15-35%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Muhoroni (Oduo Zone)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South Nyanza Sugar Co.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Varied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Varied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~5-10%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WEIGHTED AVERAGE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16.99%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Systematic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846320"/>
            <a:ext cx="2697480" cy="173736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377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Area Measurement Bias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5303520"/>
            <a:ext cx="137160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39496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Farmers report total land holdings</a:t>
            </a:r>
            <a:br/>
            <a:r>
              <a:t>rather than the specific portion</a:t>
            </a:r>
            <a:br/>
            <a:r>
              <a:t>planted to sugarcane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4846320"/>
            <a:ext cx="2697480" cy="173736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9377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Geographic 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5303520"/>
            <a:ext cx="137160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539496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Variance is highest in remote areas</a:t>
            </a:r>
            <a:br/>
            <a:r>
              <a:t>(Transmara: up to 195%) and lowest</a:t>
            </a:r>
            <a:br/>
            <a:r>
              <a:t>near major mill operations (4%)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846320"/>
            <a:ext cx="2697480" cy="173736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9377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Systematic Direction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5303520"/>
            <a:ext cx="137160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539496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Overestimation is consistently</a:t>
            </a:r>
            <a:br/>
            <a:r>
              <a:t>upward -- never underestimation --</a:t>
            </a:r>
            <a:br/>
            <a:r>
              <a:t>indicating structural bias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4846320"/>
            <a:ext cx="2697480" cy="173736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9377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Operational Impact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5303520"/>
            <a:ext cx="137160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539496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Mills plan crushing schedules on</a:t>
            </a:r>
            <a:br/>
            <a:r>
              <a:t>figures inflated by ~1/6th, leading</a:t>
            </a:r>
            <a:br/>
            <a:r>
              <a:t>to persistent supply shortfalls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SLIDE 2: POSSIBLE REASONS FOR THE VARIANCES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D0D0"/>
                </a:solidFill>
                <a:latin typeface="Calibri"/>
              </a:defRPr>
            </a:pPr>
            <a:r>
              <a:t>Why traditional census methods systematically overestimate sugarcane area by 16.99%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256032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Farmer Self-Reporting Bias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20"/>
            <a:ext cx="3291840" cy="1828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Farmers often report total land holdings</a:t>
            </a:r>
            <a:br/>
            <a:r>
              <a:t>rather than the specific portion planted to</a:t>
            </a:r>
            <a:br/>
            <a:r>
              <a:t>sugarcane. This includes homestead areas,</a:t>
            </a:r>
            <a:br/>
            <a:r>
              <a:t>paths, and non-cane sections within their</a:t>
            </a:r>
            <a:br/>
            <a:r>
              <a:t>registered parcels.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566160" cy="256032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417320"/>
            <a:ext cx="411480" cy="411480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C00"/>
                </a:solidFill>
                <a:latin typeface="Calibri"/>
              </a:defRPr>
            </a:pPr>
            <a:r>
              <a:t>Fallow &amp; Failed Areas Included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874520"/>
            <a:ext cx="3291840" cy="1828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659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Census figures include fallow areas, failed</a:t>
            </a:r>
            <a:br/>
            <a:r>
              <a:t>sections, and field margins in reported</a:t>
            </a:r>
            <a:br/>
            <a:r>
              <a:t>acreages. Areas where cane died from</a:t>
            </a:r>
            <a:br/>
            <a:r>
              <a:t>drought, disease, or poor germination are</a:t>
            </a:r>
            <a:br/>
            <a:r>
              <a:t>still counted as 'under cane'.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566160" cy="256032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0" y="1417320"/>
            <a:ext cx="411480" cy="4114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Boundary Estimation Errors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874520"/>
            <a:ext cx="3291840" cy="182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Irregularly shaped smallholder plots</a:t>
            </a:r>
            <a:br/>
            <a:r>
              <a:t>(avg. 0.48 Ha) make visual area estimation</a:t>
            </a:r>
            <a:br/>
            <a:r>
              <a:t>inherently inaccurate. Errors compound</a:t>
            </a:r>
            <a:br/>
            <a:r>
              <a:t>in non-rectangular fields common in</a:t>
            </a:r>
            <a:br/>
            <a:r>
              <a:t>Western Kenya's fragmented landscape.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3566160" cy="256032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4251960"/>
            <a:ext cx="411480" cy="4114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Strategic Area Inflation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709160"/>
            <a:ext cx="3291840" cy="1828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8006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Some farmers intentionally inflate reported</a:t>
            </a:r>
            <a:br/>
            <a:r>
              <a:t>areas anticipating area-based payments,</a:t>
            </a:r>
            <a:br/>
            <a:r>
              <a:t>input allocations, or credit access. Larger</a:t>
            </a:r>
            <a:br/>
            <a:r>
              <a:t>reported areas may translate to greater</a:t>
            </a:r>
            <a:br/>
            <a:r>
              <a:t>perceived entitlements from mills.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4114800"/>
            <a:ext cx="3566160" cy="256032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34840" y="4251960"/>
            <a:ext cx="411480" cy="411480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C00"/>
                </a:solidFill>
                <a:latin typeface="Calibri"/>
              </a:defRPr>
            </a:pPr>
            <a:r>
              <a:t>Enumerator Limitations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4709160"/>
            <a:ext cx="3291840" cy="1828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8006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Census enumerators can only visit a small</a:t>
            </a:r>
            <a:br/>
            <a:r>
              <a:t>fraction of the total planted area within</a:t>
            </a:r>
            <a:br/>
            <a:r>
              <a:t>practical time and budget limits, leading</a:t>
            </a:r>
            <a:br/>
            <a:r>
              <a:t>to reliance on farmer declarations rather</a:t>
            </a:r>
            <a:br/>
            <a:r>
              <a:t>than independent verification.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114800"/>
            <a:ext cx="3566160" cy="256032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5320" y="4251960"/>
            <a:ext cx="411480" cy="4114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Temporal &amp; Seasonal Gaps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4709160"/>
            <a:ext cx="3291840" cy="182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48006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Manual census activities are seasonal and</a:t>
            </a:r>
            <a:br/>
            <a:r>
              <a:t>fail to capture rapid changes caused by</a:t>
            </a:r>
            <a:br/>
            <a:r>
              <a:t>planting cycles, weather variability, and</a:t>
            </a:r>
            <a:br/>
            <a:r>
              <a:t>disease outbreaks. A single snapshot cannot</a:t>
            </a:r>
            <a:br/>
            <a:r>
              <a:t>represent dynamic field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3: AVERAGE YIELD - OUR ESTIMATION vs. NORMAL CANE CENSUS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D0D0"/>
                </a:solidFill>
                <a:latin typeface="Calibri"/>
              </a:defRPr>
            </a:pPr>
            <a:r>
              <a:t>Random Forest ML model (R² = 0.923) compared against traditional census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DRONE/SATELLITE ESTIMATION (Our Model)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566928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R² (Coefficient of Determination)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0.923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92.3% of yield variation explained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Mean Absolute Error (MAE)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1.547 t/ha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Predictions within 2-3% of actuals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88920"/>
            <a:ext cx="566928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Mean Abs. Percentage Error (MAPE)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834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6.5%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Average prediction deviation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Root Mean Square Error (RMSE)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11.211 t/ha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Larger outlier errors penalized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566928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Statistical Significance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p &lt; 0.001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Highly significant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297680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Classification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89.7%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Sugarcane vs. other crops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00600"/>
            <a:ext cx="566928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Sugarcane Producer's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846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  <a:latin typeface="Calibri"/>
              </a:defRPr>
            </a:pPr>
            <a:r>
              <a:t>94.2%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Correctly identified cane fields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188720"/>
            <a:ext cx="566928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2161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TRADITIONAL CANE CENSUS (Normal Method)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783080"/>
            <a:ext cx="566928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Census area: 149,438 Ha reported across 10 counties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286000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233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Drone/satellite verified: ~124,046 Ha actual (after 16.99% correction)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788920"/>
            <a:ext cx="566928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Difference: ~25,392 Ha of phantom cane area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291840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309,017 registered farmers at avg. 0.48 Ha plot size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794760"/>
            <a:ext cx="566928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Enumerator-dependent: limited spatial coverage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297680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Seasonal snapshots: fail to capture rapid changes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800600"/>
            <a:ext cx="566928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Farmer self-declared: no independent verification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440680"/>
            <a:ext cx="11643055" cy="411480"/>
          </a:xfrm>
          <a:prstGeom prst="rect">
            <a:avLst/>
          </a:prstGeom>
          <a:solidFill>
            <a:srgbClr val="00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4589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INTERNATIONAL BENCHMARKING: How Our Model Compares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274320" y="5943600"/>
          <a:ext cx="11643055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554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88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Kenya (This Study)</a:t>
                      </a:r>
                    </a:p>
                  </a:txBody>
                  <a:tcPr anchor="ctr">
                    <a:solidFill>
                      <a:srgbClr val="0088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Australia</a:t>
                      </a:r>
                    </a:p>
                  </a:txBody>
                  <a:tcPr anchor="ctr">
                    <a:solidFill>
                      <a:srgbClr val="0088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Sri Lanka</a:t>
                      </a:r>
                    </a:p>
                  </a:txBody>
                  <a:tcPr anchor="ctr">
                    <a:solidFill>
                      <a:srgbClr val="0088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Global RF Mean</a:t>
                      </a:r>
                    </a:p>
                  </a:txBody>
                  <a:tcPr anchor="ctr">
                    <a:solidFill>
                      <a:srgbClr val="0088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008888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R²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≈0.96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Competitive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 + Drone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Neural Networks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Various ML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Cost-effective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Source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Sentinel-2 + DJI Mavic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Multi-sensor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Landsat-8/Sentinel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Accessible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Context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Smallholder (0.48 Ha)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Large commercial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Various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Harder challenge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4: YIELD IMPACT &amp; SUPPLY-DEMAND 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D0D0"/>
                </a:solidFill>
                <a:latin typeface="Calibri"/>
              </a:defRPr>
            </a:pPr>
            <a:r>
              <a:t>How the 16.99% variance cascades into the cane supply-demand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0352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MATURE CANE DISTRIBUTION (Drone-Verified)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9164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County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Drone-Verified (Ha)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Kakamega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6,158.43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Nandi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4,272.19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Uasin Gishu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4,189.87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Bungoma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3,257.13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 Nzoia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3,165.97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Busia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2,548.07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West Pokot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1,204.76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25,011.17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43600" y="1188720"/>
            <a:ext cx="594360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2070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SUPPLY-DEMAND CRISIS (2025-2026 Crushing Season)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691640"/>
          <a:ext cx="5943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Available (MT)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Required (MT)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Deficit (MT)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Deficit %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Mill Util.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Nov-Dec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1,069,936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1,743,780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673,844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Jan-Mar 2026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1,440,431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2,615,670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1,175,239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Apr-Jun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1,309,151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2,615,670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1,306,519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Jul-Oct 2026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1,180,551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3,487,560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2,306,519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33.9%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ANNUAL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5,000,069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10,462,680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5,461,621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52.2%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47.8%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943600" y="3931920"/>
            <a:ext cx="5943600" cy="3200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9502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ECONOMIC IMPACT OF THE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29768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5.46 million tonne annual deficit = KShs 24.6 BILLION in foregone farmer income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Mills operating at &lt;50% capacity on average (47.8% utilization)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The 16.99% overestimation means mills plan for ~25,392 Ha that don't exist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Per-unit processing costs escalate as fixed costs spread across reduced output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At KShs 4,500/tonne, every 1% of phantom area = ~KShs 1.45 billion misallocation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572000"/>
            <a:ext cx="5303520" cy="320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5902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FEATURE IMPORTANCE: What Drives Yield Variance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83480"/>
          <a:ext cx="53035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547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Importance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Implication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Drone-measured Area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Accurate boundaries are the #1 factor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Historical Tonnes/Ha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Past performance predicts future yield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Yield Threshold (Crop Cycle)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Ratoon age explains 1/5 of variation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NDRE (Red Edge Index)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Best spectral index for dense canopy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GCI + NDVI + GNDVI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Combined vegetation health indicators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473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WDRVI + Crop Class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Supplementary classification features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SLIDE 5: RECOMMENDATIONS &amp; WAY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D0D0"/>
                </a:solidFill>
                <a:latin typeface="Calibri"/>
              </a:defRPr>
            </a:pPr>
            <a:r>
              <a:t>Addressing the variance gap: from census bias to precision agriculture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0332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IMMEDIATE ACTIONS</a:t>
            </a:r>
            <a:br/>
            <a:r>
              <a:t>(0-6 Months)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37033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7472" y="2103120"/>
            <a:ext cx="320040" cy="3200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Replace census self-reporting with</a:t>
            </a:r>
            <a:br/>
            <a:r>
              <a:t>drone-verified boundary mapping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15768"/>
            <a:ext cx="3703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" y="2852928"/>
            <a:ext cx="320040" cy="3200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61488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Apply the 16.99% correction factor</a:t>
            </a:r>
            <a:br/>
            <a:r>
              <a:t>to all current census-based planning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65576"/>
            <a:ext cx="37033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" y="3602736"/>
            <a:ext cx="320040" cy="3200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11296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Prioritize Transmara &amp; West Kenya</a:t>
            </a:r>
            <a:br/>
            <a:r>
              <a:t>zones where variance exceeds 35%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15383"/>
            <a:ext cx="3703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7472" y="4352543"/>
            <a:ext cx="320040" cy="3200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61103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Integrate drone-measured areas into</a:t>
            </a:r>
            <a:br/>
            <a:r>
              <a:t>mill crushing schedule algorithms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965192"/>
            <a:ext cx="37033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7472" y="5102352"/>
            <a:ext cx="320040" cy="3200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10912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Complete Western Catchment farm</a:t>
            </a:r>
            <a:br/>
            <a:r>
              <a:t>digitization (149,438 Ha target)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715000"/>
            <a:ext cx="3703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7472" y="5852160"/>
            <a:ext cx="320040" cy="3200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Train 5 additional KSB officers in</a:t>
            </a:r>
            <a:br/>
            <a:r>
              <a:t>GIS and remote sensing methods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1188720"/>
            <a:ext cx="370332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121615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MEDIUM-TERM STRATEGY</a:t>
            </a:r>
            <a:br/>
            <a:r>
              <a:t>(6-18 Months)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1965960"/>
            <a:ext cx="37033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33672" y="2103120"/>
            <a:ext cx="320040" cy="3200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011680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Deploy regional drone mapping hubs</a:t>
            </a:r>
            <a:br/>
            <a:r>
              <a:t>(Western, Nyanza, Coastal)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2715768"/>
            <a:ext cx="3703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233672" y="2852928"/>
            <a:ext cx="320040" cy="3200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2761488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Acquire satellite imagery for all</a:t>
            </a:r>
            <a:br/>
            <a:r>
              <a:t>catchment regions nationally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3465576"/>
            <a:ext cx="37033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33672" y="3602736"/>
            <a:ext cx="320040" cy="3200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3511296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Implement seasonal recalibration</a:t>
            </a:r>
            <a:br/>
            <a:r>
              <a:t>protocol for the ML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4215383"/>
            <a:ext cx="3703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33672" y="4352543"/>
            <a:ext cx="320040" cy="3200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261103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Add soil type, weather data, and</a:t>
            </a:r>
            <a:br/>
            <a:r>
              <a:t>pest/disease inputs to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4965192"/>
            <a:ext cx="37033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33672" y="5102352"/>
            <a:ext cx="320040" cy="3200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5010912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Build real-time monitoring dashboard</a:t>
            </a:r>
            <a:br/>
            <a:r>
              <a:t>for mill operations planning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5715000"/>
            <a:ext cx="3703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233672" y="5852160"/>
            <a:ext cx="320040" cy="3200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5760720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Reduce R3+ ratoon proportion from</a:t>
            </a:r>
            <a:br/>
            <a:r>
              <a:t>17% toward 10% benchmark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1188720"/>
            <a:ext cx="3703320" cy="640080"/>
          </a:xfrm>
          <a:prstGeom prst="rect">
            <a:avLst/>
          </a:prstGeom>
          <a:solidFill>
            <a:srgbClr val="00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121615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LONG-TERM VISION</a:t>
            </a:r>
            <a:br/>
            <a:r>
              <a:t>(18-36 Months)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1965960"/>
            <a:ext cx="37033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119872" y="2103120"/>
            <a:ext cx="320040" cy="320040"/>
          </a:xfrm>
          <a:prstGeom prst="ellipse">
            <a:avLst/>
          </a:prstGeom>
          <a:solidFill>
            <a:srgbClr val="00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2011680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Achieve full national farm coverage</a:t>
            </a:r>
            <a:br/>
            <a:r>
              <a:t>across all sugar-growing regions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2715768"/>
            <a:ext cx="3703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19872" y="2852928"/>
            <a:ext cx="320040" cy="320040"/>
          </a:xfrm>
          <a:prstGeom prst="ellipse">
            <a:avLst/>
          </a:prstGeom>
          <a:solidFill>
            <a:srgbClr val="00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2761488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Implement continuous model retraining</a:t>
            </a:r>
            <a:br/>
            <a:r>
              <a:t>with each harvest season's data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3465576"/>
            <a:ext cx="37033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119872" y="3602736"/>
            <a:ext cx="320040" cy="320040"/>
          </a:xfrm>
          <a:prstGeom prst="ellipse">
            <a:avLst/>
          </a:prstGeom>
          <a:solidFill>
            <a:srgbClr val="00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3511296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Establish automated early-warning</a:t>
            </a:r>
            <a:br/>
            <a:r>
              <a:t>system for supply gap detection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4215383"/>
            <a:ext cx="3703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19872" y="4352543"/>
            <a:ext cx="320040" cy="320040"/>
          </a:xfrm>
          <a:prstGeom prst="ellipse">
            <a:avLst/>
          </a:prstGeom>
          <a:solidFill>
            <a:srgbClr val="00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4261103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Target R² improvement from 0.923</a:t>
            </a:r>
            <a:br/>
            <a:r>
              <a:t>toward Australian benchmark (0.96)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46720" y="4965192"/>
            <a:ext cx="37033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119872" y="5102352"/>
            <a:ext cx="320040" cy="320040"/>
          </a:xfrm>
          <a:prstGeom prst="ellipse">
            <a:avLst/>
          </a:prstGeom>
          <a:solidFill>
            <a:srgbClr val="00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5010912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Reduce census overestimation from</a:t>
            </a:r>
            <a:br/>
            <a:r>
              <a:t>16.99% to &lt; 5% nationally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5715000"/>
            <a:ext cx="3703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19872" y="5852160"/>
            <a:ext cx="320040" cy="320040"/>
          </a:xfrm>
          <a:prstGeom prst="ellipse">
            <a:avLst/>
          </a:prstGeom>
          <a:solidFill>
            <a:srgbClr val="00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20" y="5760720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Position KSB as regional leader in</a:t>
            </a:r>
            <a:br/>
            <a:r>
              <a:t>data-driven agricultural management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510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Kenya Sugar Board  |  Ecospace Services Ltd.  |  Drone-Assisted Sugarcane Mapping  |  Western Catchment Region  | 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